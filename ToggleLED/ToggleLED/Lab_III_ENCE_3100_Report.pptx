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0" r:id="rId7"/>
    <p:sldId id="270" r:id="rId8"/>
    <p:sldId id="261" r:id="rId9"/>
    <p:sldId id="262" r:id="rId10"/>
    <p:sldId id="271" r:id="rId11"/>
    <p:sldId id="263" r:id="rId12"/>
    <p:sldId id="264" r:id="rId13"/>
    <p:sldId id="272" r:id="rId14"/>
    <p:sldId id="265" r:id="rId15"/>
    <p:sldId id="266" r:id="rId16"/>
    <p:sldId id="273" r:id="rId17"/>
    <p:sldId id="268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2"/>
  </p:normalViewPr>
  <p:slideViewPr>
    <p:cSldViewPr snapToGrid="0" snapToObjects="1">
      <p:cViewPr varScale="1">
        <p:scale>
          <a:sx n="109" d="100"/>
          <a:sy n="109" d="100"/>
        </p:scale>
        <p:origin x="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97180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>
                <a:solidFill>
                  <a:srgbClr val="000000"/>
                </a:solidFill>
                <a:latin typeface="Arial"/>
              </a:defRPr>
            </a:pPr>
            <a:r>
              <a:rPr dirty="0"/>
              <a:t>LAB III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3119765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 </a:t>
            </a:r>
            <a:r>
              <a:rPr lang="en-US" dirty="0"/>
              <a:t>-</a:t>
            </a:r>
            <a:r>
              <a:rPr dirty="0"/>
              <a:t> Gated RS Latch</a:t>
            </a:r>
          </a:p>
        </p:txBody>
      </p:sp>
      <p:pic>
        <p:nvPicPr>
          <p:cNvPr id="3" name="Picture 2" descr="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14400"/>
            <a:ext cx="8263373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2292615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rPr dirty="0"/>
              <a:t>Implemented a gated RS latch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431021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</a:t>
            </a:r>
            <a:r>
              <a:rPr lang="en-US" dirty="0"/>
              <a:t> -</a:t>
            </a:r>
            <a:r>
              <a:rPr dirty="0"/>
              <a:t> RTL and Technology Map</a:t>
            </a:r>
          </a:p>
        </p:txBody>
      </p:sp>
      <p:pic>
        <p:nvPicPr>
          <p:cNvPr id="3" name="Picture 2" descr="image(20260929-034859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577840" cy="1432589"/>
          </a:xfrm>
          <a:prstGeom prst="rect">
            <a:avLst/>
          </a:prstGeom>
        </p:spPr>
      </p:pic>
      <p:pic>
        <p:nvPicPr>
          <p:cNvPr id="4" name="Picture 3" descr="image(20260929-035227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960120"/>
            <a:ext cx="5486400" cy="2169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RTL verifies the cross-coupled latch logic; the Technology Map shows the four preserved combinational logic cells.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BFDDC8FA-BD9B-C250-944D-9F2224E5D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667000" y="85725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556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3010761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II </a:t>
            </a:r>
            <a:r>
              <a:rPr lang="en-US" dirty="0"/>
              <a:t>-</a:t>
            </a:r>
            <a:r>
              <a:rPr dirty="0"/>
              <a:t> Gated D Latch</a:t>
            </a:r>
          </a:p>
        </p:txBody>
      </p:sp>
      <p:pic>
        <p:nvPicPr>
          <p:cNvPr id="3" name="Picture 2" descr="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14400"/>
            <a:ext cx="7811929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rPr dirty="0"/>
              <a:t>Converted the RS latch into a D latch by using D and its complement to generate the gated S and R inputs.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448334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II </a:t>
            </a:r>
            <a:r>
              <a:rPr lang="en-US" dirty="0"/>
              <a:t>-</a:t>
            </a:r>
            <a:r>
              <a:rPr dirty="0"/>
              <a:t> RTL and Technology Map</a:t>
            </a:r>
          </a:p>
        </p:txBody>
      </p:sp>
      <p:pic>
        <p:nvPicPr>
          <p:cNvPr id="3" name="Picture 2" descr="image(20260929-043317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60120"/>
            <a:ext cx="5715000" cy="1722596"/>
          </a:xfrm>
          <a:prstGeom prst="rect">
            <a:avLst/>
          </a:prstGeom>
        </p:spPr>
      </p:pic>
      <p:pic>
        <p:nvPicPr>
          <p:cNvPr id="4" name="Picture 3" descr="image(20260929-043522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60120"/>
            <a:ext cx="5440680" cy="2019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The D latch is transparent when Clk = 1 and holds its previous value when Clk = 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186E8B76-FF87-F975-D7AA-28ABC13518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667000" y="85725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70924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4392549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III </a:t>
            </a:r>
            <a:r>
              <a:rPr lang="en-US" dirty="0"/>
              <a:t>-</a:t>
            </a:r>
            <a:r>
              <a:rPr dirty="0"/>
              <a:t> Master-Slave D Flip-Flop</a:t>
            </a:r>
          </a:p>
        </p:txBody>
      </p:sp>
      <p:pic>
        <p:nvPicPr>
          <p:cNvPr id="3" name="Picture 2" descr="p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914400"/>
            <a:ext cx="298704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Built the flip-flop from two D latches: the master uses the inverted clock and the slave uses the normal clock.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453361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III </a:t>
            </a:r>
            <a:r>
              <a:rPr lang="en-US" dirty="0"/>
              <a:t>-</a:t>
            </a:r>
            <a:r>
              <a:rPr dirty="0"/>
              <a:t> Master and Slave Latches</a:t>
            </a:r>
          </a:p>
        </p:txBody>
      </p:sp>
      <p:pic>
        <p:nvPicPr>
          <p:cNvPr id="3" name="Picture 2" descr="image(20260929-04374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486400" cy="3011090"/>
          </a:xfrm>
          <a:prstGeom prst="rect">
            <a:avLst/>
          </a:prstGeom>
        </p:spPr>
      </p:pic>
      <p:pic>
        <p:nvPicPr>
          <p:cNvPr id="4" name="Picture 3" descr="image(20260929-043806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05840"/>
            <a:ext cx="5623560" cy="15047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RTL and Technology Map both show the two latch stages connected in series to form an edge-triggered storage element.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CD24BE8C-CCB6-AE74-7518-FF2015662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667000" y="85725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397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5890523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IV </a:t>
            </a:r>
            <a:r>
              <a:rPr lang="en-US" dirty="0"/>
              <a:t>-</a:t>
            </a:r>
            <a:r>
              <a:rPr dirty="0"/>
              <a:t> Latch and Edge-Triggered Flip-Flops</a:t>
            </a:r>
          </a:p>
        </p:txBody>
      </p:sp>
      <p:pic>
        <p:nvPicPr>
          <p:cNvPr id="3" name="Picture 2" descr="p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960120"/>
            <a:ext cx="6044000" cy="5074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rPr dirty="0"/>
              <a:t>Behavioral Verilog was used to compare a gated latch, positive-edge flip-flop, and negative-edge flip-flop.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449777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IV </a:t>
            </a:r>
            <a:r>
              <a:rPr lang="en-US" dirty="0"/>
              <a:t>-</a:t>
            </a:r>
            <a:r>
              <a:rPr dirty="0"/>
              <a:t> RTL and Technology Map</a:t>
            </a:r>
          </a:p>
        </p:txBody>
      </p:sp>
      <p:pic>
        <p:nvPicPr>
          <p:cNvPr id="3" name="Picture 2" descr="image(20260929-044535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5623560" cy="3352718"/>
          </a:xfrm>
          <a:prstGeom prst="rect">
            <a:avLst/>
          </a:prstGeom>
        </p:spPr>
      </p:pic>
      <p:pic>
        <p:nvPicPr>
          <p:cNvPr id="4" name="Picture 3" descr="image(20260929-044613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914400"/>
            <a:ext cx="5486400" cy="35956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Qa is implemented as a latch, Qb as a positive-edge register, and Qc as a negative-edge register.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circuit board&#10;&#10;AI-generated content may be incorrect.">
            <a:extLst>
              <a:ext uri="{FF2B5EF4-FFF2-40B4-BE49-F238E27FC236}">
                <a16:creationId xmlns:a16="http://schemas.microsoft.com/office/drawing/2014/main" id="{4D5210BB-D2E4-75FB-7636-CA47CBB570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2667000" y="857250"/>
            <a:ext cx="6858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309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2930610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V </a:t>
            </a:r>
            <a:r>
              <a:rPr lang="en-US" dirty="0"/>
              <a:t>-</a:t>
            </a:r>
            <a:r>
              <a:rPr dirty="0"/>
              <a:t> 8-Bit Register</a:t>
            </a:r>
          </a:p>
        </p:txBody>
      </p:sp>
      <p:pic>
        <p:nvPicPr>
          <p:cNvPr id="3" name="Picture 2" descr="par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960120"/>
            <a:ext cx="9428970" cy="4983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The register captures SW[7:0] on KEY1 and clears asynchronously when active-low KEY0 is pressed.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542648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rPr dirty="0"/>
              <a:t>Part V </a:t>
            </a:r>
            <a:r>
              <a:rPr lang="en-US" dirty="0"/>
              <a:t>-</a:t>
            </a:r>
            <a:r>
              <a:rPr dirty="0"/>
              <a:t> Register and 7-Segment Displays</a:t>
            </a:r>
          </a:p>
        </p:txBody>
      </p:sp>
      <p:pic>
        <p:nvPicPr>
          <p:cNvPr id="3" name="Picture 2" descr="image(20260929-045054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5715000" cy="2357995"/>
          </a:xfrm>
          <a:prstGeom prst="rect">
            <a:avLst/>
          </a:prstGeom>
        </p:spPr>
      </p:pic>
      <p:pic>
        <p:nvPicPr>
          <p:cNvPr id="4" name="Picture 3" descr="image(20260929-045138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914400"/>
            <a:ext cx="5440680" cy="41766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63640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73737"/>
                </a:solidFill>
                <a:latin typeface="Arial"/>
              </a:defRPr>
            </a:pPr>
            <a:r>
              <a:t>HEX1–HEX0 show the current switch value; HEX3–HEX2 show the stored register value. The Technology Map shows eight flip-flop bits.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ircuit board with red lights&#10;&#10;AI-generated content may be incorrect.">
            <a:extLst>
              <a:ext uri="{FF2B5EF4-FFF2-40B4-BE49-F238E27FC236}">
                <a16:creationId xmlns:a16="http://schemas.microsoft.com/office/drawing/2014/main" id="{07BA4394-637C-8F87-1388-7EEA024CDF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4250" y="0"/>
            <a:ext cx="514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525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0040" y="228600"/>
            <a:ext cx="11521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000000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1080" y="2705725"/>
            <a:ext cx="1014984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latin typeface="Arial"/>
              </a:defRPr>
            </a:pPr>
            <a:r>
              <a:rPr dirty="0"/>
              <a:t>This lab demonstrated the progression from basic latches to edge-triggered flip-flops and registers. RTL Viewer was used to confirm the logic</a:t>
            </a:r>
            <a:r>
              <a:rPr lang="en-US" dirty="0"/>
              <a:t>.</a:t>
            </a:r>
            <a:r>
              <a:rPr dirty="0"/>
              <a:t> Technology Map Viewer was used to inspect FPGA implementation, and each design was tested on the DE10-Lite 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299</Words>
  <Application>Microsoft Macintosh PowerPoint</Application>
  <PresentationFormat>Widescreen</PresentationFormat>
  <Paragraphs>23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Haval Khorsheed</cp:lastModifiedBy>
  <cp:revision>3</cp:revision>
  <dcterms:created xsi:type="dcterms:W3CDTF">2013-01-27T09:14:16Z</dcterms:created>
  <dcterms:modified xsi:type="dcterms:W3CDTF">2026-09-29T06:28:22Z</dcterms:modified>
  <cp:category/>
</cp:coreProperties>
</file>