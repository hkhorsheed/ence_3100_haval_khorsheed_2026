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2"/>
  </p:normalViewPr>
  <p:slideViewPr>
    <p:cSldViewPr snapToGrid="0" snapToObjects="1">
      <p:cViewPr varScale="1">
        <p:scale>
          <a:sx n="109" d="100"/>
          <a:sy n="109" d="100"/>
        </p:scale>
        <p:origin x="7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000000"/>
                </a:solidFill>
                <a:latin typeface="Arial"/>
              </a:defRPr>
            </a:pPr>
            <a:r>
              <a:rPr dirty="0"/>
              <a:t>LAB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311976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dirty="0"/>
              <a:t>Part I </a:t>
            </a:r>
            <a:r>
              <a:rPr lang="en-US" dirty="0"/>
              <a:t>-</a:t>
            </a:r>
            <a:r>
              <a:rPr dirty="0"/>
              <a:t> Gated RS Latch</a:t>
            </a:r>
          </a:p>
        </p:txBody>
      </p:sp>
      <p:pic>
        <p:nvPicPr>
          <p:cNvPr id="3" name="Picture 2" descr="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8263373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229261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Arial"/>
              </a:defRPr>
            </a:pPr>
            <a:r>
              <a:rPr dirty="0"/>
              <a:t>Implemented a gated RS latch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31021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dirty="0"/>
              <a:t>Part I</a:t>
            </a:r>
            <a:r>
              <a:rPr lang="en-US" dirty="0"/>
              <a:t> -</a:t>
            </a:r>
            <a:r>
              <a:rPr dirty="0"/>
              <a:t> RTL and Technology Map</a:t>
            </a:r>
          </a:p>
        </p:txBody>
      </p:sp>
      <p:pic>
        <p:nvPicPr>
          <p:cNvPr id="3" name="Picture 2" descr="image(20260929-03485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577840" cy="1432589"/>
          </a:xfrm>
          <a:prstGeom prst="rect">
            <a:avLst/>
          </a:prstGeom>
        </p:spPr>
      </p:pic>
      <p:pic>
        <p:nvPicPr>
          <p:cNvPr id="4" name="Picture 3" descr="image(20260929-03522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0120"/>
            <a:ext cx="5486400" cy="21699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Arial"/>
              </a:defRPr>
            </a:pPr>
            <a:r>
              <a:t>RTL verifies the cross-coupled latch logic; the Technology Map shows the four preserved combinational logic cells.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301076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dirty="0"/>
              <a:t>Part II </a:t>
            </a:r>
            <a:r>
              <a:rPr lang="en-US" dirty="0"/>
              <a:t>-</a:t>
            </a:r>
            <a:r>
              <a:rPr dirty="0"/>
              <a:t> Gated D Latch</a:t>
            </a:r>
          </a:p>
        </p:txBody>
      </p:sp>
      <p:pic>
        <p:nvPicPr>
          <p:cNvPr id="3" name="Picture 2" descr="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781192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Arial"/>
              </a:defRPr>
            </a:pPr>
            <a:r>
              <a:rPr dirty="0"/>
              <a:t>Converted the RS latch into a D latch by using D and its complement to generate the gated S and R inputs.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48334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dirty="0"/>
              <a:t>Part II </a:t>
            </a:r>
            <a:r>
              <a:rPr lang="en-US" dirty="0"/>
              <a:t>-</a:t>
            </a:r>
            <a:r>
              <a:rPr dirty="0"/>
              <a:t> RTL and Technology Map</a:t>
            </a:r>
          </a:p>
        </p:txBody>
      </p:sp>
      <p:pic>
        <p:nvPicPr>
          <p:cNvPr id="3" name="Picture 2" descr="image(20260929-04331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5715000" cy="1722596"/>
          </a:xfrm>
          <a:prstGeom prst="rect">
            <a:avLst/>
          </a:prstGeom>
        </p:spPr>
      </p:pic>
      <p:pic>
        <p:nvPicPr>
          <p:cNvPr id="4" name="Picture 3" descr="image(20260929-04352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60120"/>
            <a:ext cx="5440680" cy="2019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Arial"/>
              </a:defRPr>
            </a:pPr>
            <a:r>
              <a:t>The D latch is transparent when Clk = 1 and holds its previous value when Clk =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39254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dirty="0"/>
              <a:t>Part III </a:t>
            </a:r>
            <a:r>
              <a:rPr lang="en-US" dirty="0"/>
              <a:t>-</a:t>
            </a:r>
            <a:r>
              <a:rPr dirty="0"/>
              <a:t> Master-Slave D Flip-Flop</a:t>
            </a:r>
          </a:p>
        </p:txBody>
      </p:sp>
      <p:pic>
        <p:nvPicPr>
          <p:cNvPr id="3" name="Picture 2" descr="p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14400"/>
            <a:ext cx="29870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Arial"/>
              </a:defRPr>
            </a:pPr>
            <a:r>
              <a:t>Built the flip-flop from two D latches: the master uses the inverted clock and the slave uses the normal clock.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53361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dirty="0"/>
              <a:t>Part III </a:t>
            </a:r>
            <a:r>
              <a:rPr lang="en-US" dirty="0"/>
              <a:t>-</a:t>
            </a:r>
            <a:r>
              <a:rPr dirty="0"/>
              <a:t> Master and Slave Latches</a:t>
            </a:r>
          </a:p>
        </p:txBody>
      </p:sp>
      <p:pic>
        <p:nvPicPr>
          <p:cNvPr id="3" name="Picture 2" descr="image(20260929-0437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86400" cy="3011090"/>
          </a:xfrm>
          <a:prstGeom prst="rect">
            <a:avLst/>
          </a:prstGeom>
        </p:spPr>
      </p:pic>
      <p:pic>
        <p:nvPicPr>
          <p:cNvPr id="4" name="Picture 3" descr="image(20260929-04380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05840"/>
            <a:ext cx="5623560" cy="15047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Arial"/>
              </a:defRPr>
            </a:pPr>
            <a:r>
              <a:t>RTL and Technology Map both show the two latch stages connected in series to form an edge-triggered storage element.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8905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dirty="0"/>
              <a:t>Part IV </a:t>
            </a:r>
            <a:r>
              <a:rPr lang="en-US" dirty="0"/>
              <a:t>-</a:t>
            </a:r>
            <a:r>
              <a:rPr dirty="0"/>
              <a:t> Latch and Edge-Triggered Flip-Flops</a:t>
            </a:r>
          </a:p>
        </p:txBody>
      </p:sp>
      <p:pic>
        <p:nvPicPr>
          <p:cNvPr id="3" name="Picture 2" descr="p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60120"/>
            <a:ext cx="6044000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Arial"/>
              </a:defRPr>
            </a:pPr>
            <a:r>
              <a:rPr dirty="0"/>
              <a:t>Behavioral Verilog was used to compare a gated latch, positive-edge flip-flop, and negative-edge flip-flop.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449777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dirty="0"/>
              <a:t>Part IV </a:t>
            </a:r>
            <a:r>
              <a:rPr lang="en-US" dirty="0"/>
              <a:t>-</a:t>
            </a:r>
            <a:r>
              <a:rPr dirty="0"/>
              <a:t> RTL and Technology Map</a:t>
            </a:r>
          </a:p>
        </p:txBody>
      </p:sp>
      <p:pic>
        <p:nvPicPr>
          <p:cNvPr id="3" name="Picture 2" descr="image(20260929-04453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5623560" cy="3352718"/>
          </a:xfrm>
          <a:prstGeom prst="rect">
            <a:avLst/>
          </a:prstGeom>
        </p:spPr>
      </p:pic>
      <p:pic>
        <p:nvPicPr>
          <p:cNvPr id="4" name="Picture 3" descr="image(20260929-0446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14400"/>
            <a:ext cx="5486400" cy="35956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Arial"/>
              </a:defRPr>
            </a:pPr>
            <a:r>
              <a:t>Qa is implemented as a latch, Qb as a positive-edge register, and Qc as a negative-edge register.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293061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dirty="0"/>
              <a:t>Part V </a:t>
            </a:r>
            <a:r>
              <a:rPr lang="en-US" dirty="0"/>
              <a:t>-</a:t>
            </a:r>
            <a:r>
              <a:rPr dirty="0"/>
              <a:t> 8-Bit Register</a:t>
            </a:r>
          </a:p>
        </p:txBody>
      </p:sp>
      <p:pic>
        <p:nvPicPr>
          <p:cNvPr id="3" name="Picture 2" descr="par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60120"/>
            <a:ext cx="9428970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Arial"/>
              </a:defRPr>
            </a:pPr>
            <a:r>
              <a:t>The register captures SW[7:0] on KEY1 and clears asynchronously when active-low KEY0 is pressed.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542648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dirty="0"/>
              <a:t>Part V </a:t>
            </a:r>
            <a:r>
              <a:rPr lang="en-US" dirty="0"/>
              <a:t>-</a:t>
            </a:r>
            <a:r>
              <a:rPr dirty="0"/>
              <a:t> Register and 7-Segment Displays</a:t>
            </a:r>
          </a:p>
        </p:txBody>
      </p:sp>
      <p:pic>
        <p:nvPicPr>
          <p:cNvPr id="3" name="Picture 2" descr="image(20260929-0450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5715000" cy="2357995"/>
          </a:xfrm>
          <a:prstGeom prst="rect">
            <a:avLst/>
          </a:prstGeom>
        </p:spPr>
      </p:pic>
      <p:pic>
        <p:nvPicPr>
          <p:cNvPr id="4" name="Picture 3" descr="image(20260929-04513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14400"/>
            <a:ext cx="5440680" cy="41766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3737"/>
                </a:solidFill>
                <a:latin typeface="Arial"/>
              </a:defRPr>
            </a:pPr>
            <a:r>
              <a:t>HEX1–HEX0 show the current switch value; HEX3–HEX2 show the stored register value. The Technology Map shows eight flip-flop bits.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t>Testing and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latin typeface="Arial"/>
              </a:defRPr>
            </a:pPr>
            <a:r>
              <a:t>Part I – SW0=S, SW1=R, SW2=Clk, LEDR0=Q. Set, hold, and reset behavior worked.</a:t>
            </a:r>
          </a:p>
          <a:p>
            <a:pPr>
              <a:spcAft>
                <a:spcPts val="1500"/>
              </a:spcAft>
              <a:defRPr sz="1800">
                <a:latin typeface="Arial"/>
              </a:defRPr>
            </a:pPr>
            <a:r>
              <a:t>Part II – SW0=D, SW1=Clk. Q followed D while Clk was high and held while Clk was low.</a:t>
            </a:r>
          </a:p>
          <a:p>
            <a:pPr>
              <a:spcAft>
                <a:spcPts val="1500"/>
              </a:spcAft>
              <a:defRPr sz="1800">
                <a:latin typeface="Arial"/>
              </a:defRPr>
            </a:pPr>
            <a:r>
              <a:t>Part III – SW0=D, SW1=Clk. Output updated at the clock transition rather than continuously following D.</a:t>
            </a:r>
          </a:p>
          <a:p>
            <a:pPr>
              <a:spcAft>
                <a:spcPts val="1500"/>
              </a:spcAft>
              <a:defRPr sz="1800">
                <a:latin typeface="Arial"/>
              </a:defRPr>
            </a:pPr>
            <a:r>
              <a:t>Part IV – LEDR0=Qa, LEDR1=Qb, LEDR2=Qc. The three outputs showed latch, positive-edge, and negative-edge behavior.</a:t>
            </a:r>
          </a:p>
          <a:p>
            <a:pPr>
              <a:spcAft>
                <a:spcPts val="1500"/>
              </a:spcAft>
              <a:defRPr sz="1800">
                <a:latin typeface="Arial"/>
              </a:defRPr>
            </a:pPr>
            <a:r>
              <a:t>Part V – KEY1 clocked the register, KEY0 reset it, HEX1–0 showed current B, and HEX3–2 held stored 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28600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latin typeface="Arial"/>
              </a:defRPr>
            </a:pPr>
            <a:r>
              <a:t>This lab demonstrated the progression from basic latches to edge-triggered flip-flops and registers. RTL Viewer was used to confirm the intended logic, Technology Map Viewer was used to inspect FPGA implementation, and each design was tested on the DE10-Lite 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429</Words>
  <Application>Microsoft Macintosh PowerPoint</Application>
  <PresentationFormat>Widescreen</PresentationFormat>
  <Paragraphs>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Haval Khorsheed</cp:lastModifiedBy>
  <cp:revision>2</cp:revision>
  <dcterms:created xsi:type="dcterms:W3CDTF">2013-01-27T09:14:16Z</dcterms:created>
  <dcterms:modified xsi:type="dcterms:W3CDTF">2026-09-29T05:58:35Z</dcterms:modified>
  <cp:category/>
</cp:coreProperties>
</file>