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61" r:id="rId9"/>
    <p:sldId id="262" r:id="rId10"/>
    <p:sldId id="271" r:id="rId11"/>
    <p:sldId id="263" r:id="rId12"/>
    <p:sldId id="264" r:id="rId13"/>
    <p:sldId id="272" r:id="rId14"/>
    <p:sldId id="265" r:id="rId15"/>
    <p:sldId id="266" r:id="rId16"/>
    <p:sldId id="273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9222" y="3075057"/>
            <a:ext cx="15135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dirty="0"/>
              <a:t>LAB IV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1197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Part I - 8-Bit T Flip-Flop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0"/>
            <a:ext cx="77253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Built an 8-bit synchronous counter from eight T flip-flops. </a:t>
            </a:r>
            <a:endParaRPr lang="en-US" dirty="0"/>
          </a:p>
          <a:p>
            <a:r>
              <a:rPr dirty="0"/>
              <a:t>Each higher bit toggles only when Enable and all lower</a:t>
            </a:r>
            <a:r>
              <a:rPr lang="en-US" dirty="0"/>
              <a:t> </a:t>
            </a:r>
            <a:r>
              <a:rPr dirty="0"/>
              <a:t>order count bits are high.</a:t>
            </a:r>
          </a:p>
        </p:txBody>
      </p:sp>
      <p:pic>
        <p:nvPicPr>
          <p:cNvPr id="5" name="Picture 4" descr="image(20261005-215301).png"/>
          <p:cNvPicPr>
            <a:picLocks noChangeAspect="1"/>
          </p:cNvPicPr>
          <p:nvPr/>
        </p:nvPicPr>
        <p:blipFill>
          <a:blip r:embed="rId2"/>
          <a:srcRect l="3264" t="19223" r="3247" b="7271"/>
          <a:stretch>
            <a:fillRect/>
          </a:stretch>
        </p:blipFill>
        <p:spPr>
          <a:xfrm>
            <a:off x="575115" y="1055076"/>
            <a:ext cx="10679039" cy="43375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3102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I - RTL and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101761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RTL confirms the the T flip-flop counter. Simulation was used to verify clear, enable, and counting behavior.</a:t>
            </a:r>
          </a:p>
        </p:txBody>
      </p:sp>
      <p:pic>
        <p:nvPicPr>
          <p:cNvPr id="6" name="Picture 5" descr="image(20261006-030129).png"/>
          <p:cNvPicPr>
            <a:picLocks noChangeAspect="1"/>
          </p:cNvPicPr>
          <p:nvPr/>
        </p:nvPicPr>
        <p:blipFill>
          <a:blip r:embed="rId2"/>
          <a:srcRect l="3861" t="2518" r="3234" b="2877"/>
          <a:stretch>
            <a:fillRect/>
          </a:stretch>
        </p:blipFill>
        <p:spPr>
          <a:xfrm>
            <a:off x="656492" y="860774"/>
            <a:ext cx="5005754" cy="3218858"/>
          </a:xfrm>
          <a:prstGeom prst="rect">
            <a:avLst/>
          </a:prstGeom>
        </p:spPr>
      </p:pic>
      <p:pic>
        <p:nvPicPr>
          <p:cNvPr id="7" name="Picture 6" descr="image(20261005-22123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168" y="4409049"/>
            <a:ext cx="7813225" cy="1618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25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130" y="-42985"/>
            <a:ext cx="5175739" cy="690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5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0107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II - 16-Bit Behavioral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Implemented a 16-bit synchronous counter behaviorally using Q &lt;= Q + 1 with enable and active-low clear.</a:t>
            </a:r>
          </a:p>
        </p:txBody>
      </p:sp>
      <p:pic>
        <p:nvPicPr>
          <p:cNvPr id="5" name="Picture 4" descr="image(20261006-0326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72039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9107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Part II </a:t>
            </a:r>
            <a:r>
              <a:rPr lang="en-US" dirty="0"/>
              <a:t>-</a:t>
            </a:r>
            <a:r>
              <a:rPr dirty="0"/>
              <a:t> RTL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96050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The counter synthesized to 18 logic elements and 16 registers. The measured Fmax was 396.35 </a:t>
            </a:r>
            <a:r>
              <a:rPr dirty="0" err="1"/>
              <a:t>MHz.</a:t>
            </a:r>
            <a:endParaRPr dirty="0"/>
          </a:p>
        </p:txBody>
      </p:sp>
      <p:pic>
        <p:nvPicPr>
          <p:cNvPr id="6" name="Picture 5" descr="image(20261006-031301).png"/>
          <p:cNvPicPr>
            <a:picLocks noChangeAspect="1"/>
          </p:cNvPicPr>
          <p:nvPr/>
        </p:nvPicPr>
        <p:blipFill>
          <a:blip r:embed="rId2"/>
          <a:srcRect l="5477" r="2249"/>
          <a:stretch>
            <a:fillRect/>
          </a:stretch>
        </p:blipFill>
        <p:spPr>
          <a:xfrm>
            <a:off x="747931" y="971842"/>
            <a:ext cx="5866229" cy="2373427"/>
          </a:xfrm>
          <a:prstGeom prst="rect">
            <a:avLst/>
          </a:prstGeom>
        </p:spPr>
      </p:pic>
      <p:pic>
        <p:nvPicPr>
          <p:cNvPr id="7" name="Picture 6" descr="image(20261006-03304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21" y="3159607"/>
            <a:ext cx="6357394" cy="2627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1006-031301).png"/>
          <p:cNvPicPr>
            <a:picLocks noChangeAspect="1"/>
          </p:cNvPicPr>
          <p:nvPr/>
        </p:nvPicPr>
        <p:blipFill>
          <a:blip r:embed="rId2"/>
          <a:srcRect l="5250" r="2487"/>
          <a:stretch>
            <a:fillRect/>
          </a:stretch>
        </p:blipFill>
        <p:spPr>
          <a:xfrm>
            <a:off x="1348154" y="1448532"/>
            <a:ext cx="9788769" cy="39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9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8040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Part III </a:t>
            </a:r>
            <a:r>
              <a:rPr lang="en-US" dirty="0"/>
              <a:t>- </a:t>
            </a:r>
            <a:r>
              <a:rPr dirty="0"/>
              <a:t>LPM 16-Bit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93395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Generated a 16-bit LPM_COUNTER with count enable and synchronous clear using the Quartus IP.</a:t>
            </a:r>
          </a:p>
        </p:txBody>
      </p:sp>
      <p:pic>
        <p:nvPicPr>
          <p:cNvPr id="5" name="Picture 4" descr="image(20261006-0316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78" y="1425035"/>
            <a:ext cx="7601243" cy="4007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5336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III - LPM Configuration and RTL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3069"/>
            <a:ext cx="92595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The LPM counter synthesized to 18 logic elements and 16 registers with an Fmax of 438.79 MHz, </a:t>
            </a:r>
            <a:endParaRPr lang="en-US" dirty="0"/>
          </a:p>
          <a:p>
            <a:r>
              <a:rPr dirty="0"/>
              <a:t>higher than the behavioral implementation.</a:t>
            </a:r>
          </a:p>
        </p:txBody>
      </p:sp>
      <p:pic>
        <p:nvPicPr>
          <p:cNvPr id="6" name="Picture 5" descr="image(20261006-032406).png"/>
          <p:cNvPicPr>
            <a:picLocks noChangeAspect="1"/>
          </p:cNvPicPr>
          <p:nvPr/>
        </p:nvPicPr>
        <p:blipFill>
          <a:blip r:embed="rId2"/>
          <a:srcRect l="14947" r="4435"/>
          <a:stretch>
            <a:fillRect/>
          </a:stretch>
        </p:blipFill>
        <p:spPr>
          <a:xfrm>
            <a:off x="220157" y="1005840"/>
            <a:ext cx="4533614" cy="3693361"/>
          </a:xfrm>
          <a:prstGeom prst="rect">
            <a:avLst/>
          </a:prstGeom>
        </p:spPr>
      </p:pic>
      <p:pic>
        <p:nvPicPr>
          <p:cNvPr id="7" name="Picture 6" descr="image(20261006-0344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71" y="1336432"/>
            <a:ext cx="7312389" cy="30359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1006-0324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73" y="220734"/>
            <a:ext cx="9769895" cy="641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9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3391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Part IV </a:t>
            </a:r>
            <a:r>
              <a:rPr lang="en-US" dirty="0"/>
              <a:t>-</a:t>
            </a:r>
            <a:r>
              <a:rPr dirty="0"/>
              <a:t> 0</a:t>
            </a:r>
            <a:r>
              <a:rPr lang="en-US" dirty="0"/>
              <a:t>-</a:t>
            </a:r>
            <a:r>
              <a:rPr dirty="0"/>
              <a:t>9 One-Second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1074621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Used the 50 MHz board clock with a one-second enable pulse </a:t>
            </a:r>
            <a:r>
              <a:rPr lang="en-US" dirty="0"/>
              <a:t>to</a:t>
            </a:r>
            <a:r>
              <a:rPr dirty="0"/>
              <a:t> the digit </a:t>
            </a:r>
            <a:r>
              <a:rPr lang="en-US" dirty="0"/>
              <a:t>goes</a:t>
            </a:r>
            <a:r>
              <a:rPr dirty="0"/>
              <a:t> from 0 through 9 once per second.</a:t>
            </a:r>
          </a:p>
        </p:txBody>
      </p:sp>
      <p:pic>
        <p:nvPicPr>
          <p:cNvPr id="5" name="Picture 4" descr="image(20261006-0326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60120"/>
            <a:ext cx="7995138" cy="4235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4977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IV - Counter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504" y="6090791"/>
            <a:ext cx="86938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Counter_1Hz generates the one-second enable while </a:t>
            </a:r>
            <a:r>
              <a:rPr dirty="0" err="1"/>
              <a:t>Digit_Counter</a:t>
            </a:r>
            <a:r>
              <a:rPr dirty="0"/>
              <a:t> </a:t>
            </a:r>
            <a:r>
              <a:rPr lang="en-US" dirty="0"/>
              <a:t>goes</a:t>
            </a:r>
            <a:r>
              <a:rPr dirty="0"/>
              <a:t> from 9 back to 0. </a:t>
            </a:r>
            <a:endParaRPr lang="en-US" dirty="0"/>
          </a:p>
          <a:p>
            <a:r>
              <a:rPr dirty="0"/>
              <a:t>The FPGA clock remains </a:t>
            </a:r>
            <a:r>
              <a:rPr lang="en-US" dirty="0"/>
              <a:t>as </a:t>
            </a:r>
            <a:r>
              <a:rPr dirty="0"/>
              <a:t>50 MHz clock.</a:t>
            </a:r>
          </a:p>
        </p:txBody>
      </p:sp>
      <p:pic>
        <p:nvPicPr>
          <p:cNvPr id="6" name="Picture 5" descr="image(20261006-0326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914399"/>
            <a:ext cx="6367871" cy="4607169"/>
          </a:xfrm>
          <a:prstGeom prst="rect">
            <a:avLst/>
          </a:prstGeom>
        </p:spPr>
      </p:pic>
      <p:pic>
        <p:nvPicPr>
          <p:cNvPr id="7" name="Picture 6" descr="IMG_25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2" y="444043"/>
            <a:ext cx="4191000" cy="558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25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954" y="44938"/>
            <a:ext cx="5076092" cy="676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0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9306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V - Scrolling HELLO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63640"/>
            <a:ext cx="894687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Extended the one-second counter concept to scroll HELLO across the seven-segment displays.</a:t>
            </a:r>
          </a:p>
        </p:txBody>
      </p:sp>
      <p:pic>
        <p:nvPicPr>
          <p:cNvPr id="5" name="Picture 4" descr="image(20261006-03400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60120"/>
            <a:ext cx="828455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264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Part V - HELLO Display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108405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Hello_Scroll</a:t>
            </a:r>
            <a:r>
              <a:rPr dirty="0"/>
              <a:t> controls the display position while </a:t>
            </a:r>
            <a:r>
              <a:rPr dirty="0" err="1"/>
              <a:t>Hello</a:t>
            </a:r>
            <a:r>
              <a:rPr lang="en-US" dirty="0" err="1"/>
              <a:t>_</a:t>
            </a:r>
            <a:r>
              <a:rPr dirty="0" err="1"/>
              <a:t>Display</a:t>
            </a:r>
            <a:r>
              <a:rPr dirty="0"/>
              <a:t> maps H, E, L, L, O to active-low across HEX7–HEX0.</a:t>
            </a:r>
          </a:p>
        </p:txBody>
      </p:sp>
      <p:pic>
        <p:nvPicPr>
          <p:cNvPr id="6" name="Picture 5" descr="image(20261006-0341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2954"/>
            <a:ext cx="6325767" cy="3552092"/>
          </a:xfrm>
          <a:prstGeom prst="rect">
            <a:avLst/>
          </a:prstGeom>
        </p:spPr>
      </p:pic>
      <p:pic>
        <p:nvPicPr>
          <p:cNvPr id="7" name="Picture 6" descr="IMG_25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17" y="228600"/>
            <a:ext cx="4454769" cy="59396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25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25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1080" y="2967335"/>
            <a:ext cx="10149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This lab compared </a:t>
            </a:r>
            <a:r>
              <a:rPr lang="en-US" dirty="0"/>
              <a:t>the </a:t>
            </a:r>
            <a:r>
              <a:rPr dirty="0"/>
              <a:t>behavioral</a:t>
            </a:r>
            <a:r>
              <a:rPr lang="en-US" dirty="0"/>
              <a:t> </a:t>
            </a:r>
            <a:r>
              <a:rPr dirty="0"/>
              <a:t>and LPM counter implementations. RTL Viewer and timing reports were used to </a:t>
            </a:r>
            <a:r>
              <a:rPr lang="en-US" dirty="0"/>
              <a:t>be able to analyze</a:t>
            </a:r>
            <a:r>
              <a:rPr dirty="0"/>
              <a:t> each design, while the DE10-Lite board verified the 0</a:t>
            </a:r>
            <a:r>
              <a:rPr lang="en-US" dirty="0"/>
              <a:t>-</a:t>
            </a:r>
            <a:r>
              <a:rPr dirty="0"/>
              <a:t>9 one-second counter and scrolling HELLO display. The LPM implementation </a:t>
            </a:r>
            <a:r>
              <a:rPr lang="en-US" dirty="0"/>
              <a:t>got</a:t>
            </a:r>
            <a:r>
              <a:rPr dirty="0"/>
              <a:t> the highest measured Fmax of the 16-bit counters.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334</Words>
  <Application>Microsoft Macintosh PowerPoint</Application>
  <PresentationFormat>Widescreen</PresentationFormat>
  <Paragraphs>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Haval Khorsheed</cp:lastModifiedBy>
  <cp:revision>4</cp:revision>
  <dcterms:created xsi:type="dcterms:W3CDTF">2013-01-27T09:14:16Z</dcterms:created>
  <dcterms:modified xsi:type="dcterms:W3CDTF">2026-10-06T04:01:16Z</dcterms:modified>
  <cp:category/>
</cp:coreProperties>
</file>