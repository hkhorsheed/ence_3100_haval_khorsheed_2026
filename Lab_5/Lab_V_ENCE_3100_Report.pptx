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72" r:id="rId13"/>
    <p:sldId id="265" r:id="rId14"/>
    <p:sldId id="266" r:id="rId15"/>
    <p:sldId id="27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6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5898" y="3198167"/>
            <a:ext cx="9802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Aptos"/>
              </a:rPr>
              <a:t>LAB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1197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 - 8-Bit Accumulator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0"/>
            <a:ext cx="83502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Implemented an 8-bit accumulator where SW[7:0]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gives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input A. KEY0 resets the stored sum,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and the updated result is displayed on LEDR[7:0].</a:t>
            </a:r>
            <a:endParaRPr lang="en-US" dirty="0"/>
          </a:p>
        </p:txBody>
      </p:sp>
      <p:pic>
        <p:nvPicPr>
          <p:cNvPr id="5" name="Picture 4" descr="fig2_accumulator.png"/>
          <p:cNvPicPr>
            <a:picLocks noChangeAspect="1"/>
          </p:cNvPicPr>
          <p:nvPr/>
        </p:nvPicPr>
        <p:blipFill>
          <a:blip r:embed="rId2"/>
          <a:srcRect l="18232" t="22703" r="18241"/>
          <a:stretch>
            <a:fillRect/>
          </a:stretch>
        </p:blipFill>
        <p:spPr>
          <a:xfrm>
            <a:off x="3839307" y="1752600"/>
            <a:ext cx="4513385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3102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 - Compile and Pin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6367" y="6169855"/>
            <a:ext cx="100874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After restarting the project with the correct MAX 10 device, the design compiled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 successfully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.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The DE10-Lite pin assignments were imported so SW, KEY, LEDR, and HEX signals mapped to the board correctly.</a:t>
            </a:r>
          </a:p>
        </p:txBody>
      </p:sp>
      <p:pic>
        <p:nvPicPr>
          <p:cNvPr id="6" name="Picture 5" descr="image(20261006-1536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52848"/>
            <a:ext cx="5525362" cy="2556417"/>
          </a:xfrm>
          <a:prstGeom prst="rect">
            <a:avLst/>
          </a:prstGeom>
        </p:spPr>
      </p:pic>
      <p:pic>
        <p:nvPicPr>
          <p:cNvPr id="7" name="Picture 6" descr="image(20261006-16394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458" y="2231057"/>
            <a:ext cx="5465050" cy="3820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ard_IMG_25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66" y="645900"/>
            <a:ext cx="9895467" cy="556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5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0107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II - Add/Subtract Accumulator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197" y="6044625"/>
            <a:ext cx="86701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ptos"/>
              </a:rPr>
              <a:t>Added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the accumulator with SW8 as the </a:t>
            </a:r>
            <a:r>
              <a:rPr sz="1600" b="0" dirty="0" err="1">
                <a:solidFill>
                  <a:srgbClr val="000000"/>
                </a:solidFill>
                <a:latin typeface="Aptos"/>
              </a:rPr>
              <a:t>add_sub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control. When SW8 = 0, the circuit adds A to S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.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Aptos"/>
              </a:rPr>
              <a:t>When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SW8 = 1, it subtracts A from S.</a:t>
            </a:r>
          </a:p>
        </p:txBody>
      </p:sp>
      <p:pic>
        <p:nvPicPr>
          <p:cNvPr id="5" name="Picture 4" descr="fig2_accumulator.png"/>
          <p:cNvPicPr>
            <a:picLocks noChangeAspect="1"/>
          </p:cNvPicPr>
          <p:nvPr/>
        </p:nvPicPr>
        <p:blipFill>
          <a:blip r:embed="rId2"/>
          <a:srcRect l="20850" t="19534" r="17007"/>
          <a:stretch>
            <a:fillRect/>
          </a:stretch>
        </p:blipFill>
        <p:spPr>
          <a:xfrm>
            <a:off x="3842375" y="1659475"/>
            <a:ext cx="4476769" cy="353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9107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II - Button Clock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197" y="6044625"/>
            <a:ext cx="83469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Using KEY1 as a manual clock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made the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switch bounce multiple updates per press.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The final version used MAX10_CLK1_50 as the real clock and detected KEY presses as inputs.</a:t>
            </a:r>
            <a:endParaRPr dirty="0"/>
          </a:p>
        </p:txBody>
      </p:sp>
      <p:pic>
        <p:nvPicPr>
          <p:cNvPr id="6" name="Picture 5" descr="board_IMG_2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6844"/>
            <a:ext cx="5755162" cy="3237279"/>
          </a:xfrm>
          <a:prstGeom prst="rect">
            <a:avLst/>
          </a:prstGeom>
        </p:spPr>
      </p:pic>
      <p:pic>
        <p:nvPicPr>
          <p:cNvPr id="7" name="Picture 6" descr="image(20261006-16394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363" y="1923558"/>
            <a:ext cx="5526267" cy="3863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ard_IMG_2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22" y="800000"/>
            <a:ext cx="9347555" cy="52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9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8040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III - 4-Bit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5564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Built a 4-bit multiplier for A × B. Since the DE10-Lite has SW9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-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SW0, A was mapped to SW9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-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SW6 and B was mapped to SW3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-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SW0.</a:t>
            </a:r>
          </a:p>
        </p:txBody>
      </p:sp>
      <p:pic>
        <p:nvPicPr>
          <p:cNvPr id="5" name="Picture 4" descr="fig4_array4x4.png"/>
          <p:cNvPicPr>
            <a:picLocks noChangeAspect="1"/>
          </p:cNvPicPr>
          <p:nvPr/>
        </p:nvPicPr>
        <p:blipFill>
          <a:blip r:embed="rId2"/>
          <a:srcRect t="17679"/>
          <a:stretch>
            <a:fillRect/>
          </a:stretch>
        </p:blipFill>
        <p:spPr>
          <a:xfrm>
            <a:off x="3506007" y="1149123"/>
            <a:ext cx="5179986" cy="4559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5336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III - HEX Display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3069"/>
            <a:ext cx="86621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The product P is shown as two hexadecimal digits on HEX1 and HEX0.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A is displayed on HEX5 and B is displayed on HEX4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 because the DE10-Lite does not have a HEX6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.</a:t>
            </a:r>
            <a:endParaRPr lang="en-US" dirty="0"/>
          </a:p>
        </p:txBody>
      </p:sp>
      <p:pic>
        <p:nvPicPr>
          <p:cNvPr id="7" name="Picture 6" descr="board_IMG_25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00" y="1489093"/>
            <a:ext cx="6043895" cy="3399691"/>
          </a:xfrm>
          <a:prstGeom prst="rect">
            <a:avLst/>
          </a:prstGeom>
        </p:spPr>
      </p:pic>
      <p:pic>
        <p:nvPicPr>
          <p:cNvPr id="3" name="Picture 2" descr="fig4_array4x4.png">
            <a:extLst>
              <a:ext uri="{FF2B5EF4-FFF2-40B4-BE49-F238E27FC236}">
                <a16:creationId xmlns:a16="http://schemas.microsoft.com/office/drawing/2014/main" id="{99AA5416-83F5-5F0B-F58B-63A5932FC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79"/>
          <a:stretch>
            <a:fillRect/>
          </a:stretch>
        </p:blipFill>
        <p:spPr>
          <a:xfrm>
            <a:off x="411114" y="809154"/>
            <a:ext cx="5179986" cy="45597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3391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Part IV - 8x8 Registered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197" y="6044625"/>
            <a:ext cx="85500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Implemented an 8x8 multiplier using shifted partial products. A and B are loaded from SW[7:0],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then the 16-bit product is displayed on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the 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HEX3</a:t>
            </a:r>
            <a:r>
              <a:rPr lang="en-US" sz="1600" dirty="0">
                <a:solidFill>
                  <a:srgbClr val="000000"/>
                </a:solidFill>
                <a:latin typeface="Aptos"/>
              </a:rPr>
              <a:t>-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HEX0.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B58C6-EA9A-82BF-69AF-AFC33732B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1447800"/>
            <a:ext cx="48514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4977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Part IV - Shift-and-Add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504" y="6090791"/>
            <a:ext cx="101945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The shift-and-add multiplier synthesized 174 logic elements and 34 registers. The measured Fmax was 79.74 </a:t>
            </a:r>
            <a:r>
              <a:rPr sz="1600" b="0" dirty="0" err="1">
                <a:solidFill>
                  <a:srgbClr val="000000"/>
                </a:solidFill>
                <a:latin typeface="Aptos"/>
              </a:rPr>
              <a:t>MHz.</a:t>
            </a:r>
            <a:endParaRPr lang="en-US" dirty="0"/>
          </a:p>
        </p:txBody>
      </p:sp>
      <p:pic>
        <p:nvPicPr>
          <p:cNvPr id="6" name="Picture 5" descr="image(20261006-19494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09" y="2318202"/>
            <a:ext cx="5684521" cy="3035173"/>
          </a:xfrm>
          <a:prstGeom prst="rect">
            <a:avLst/>
          </a:prstGeom>
        </p:spPr>
      </p:pic>
      <p:pic>
        <p:nvPicPr>
          <p:cNvPr id="7" name="Picture 6" descr="image(20261006-19495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0" y="843130"/>
            <a:ext cx="5686791" cy="29501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ard_IMG_25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33" y="750000"/>
            <a:ext cx="9525333" cy="53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09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9306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V - Adder Tree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938" y="6198513"/>
            <a:ext cx="86328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Replaced the long addition chain with an adder tree. Partial products are added in parallel pairs, </a:t>
            </a:r>
            <a:endParaRPr lang="en-US" sz="1600" b="0" dirty="0">
              <a:solidFill>
                <a:srgbClr val="000000"/>
              </a:solidFill>
              <a:latin typeface="Aptos"/>
            </a:endParaRPr>
          </a:p>
          <a:p>
            <a:r>
              <a:rPr sz="1600" b="0" dirty="0">
                <a:solidFill>
                  <a:srgbClr val="000000"/>
                </a:solidFill>
                <a:latin typeface="Aptos"/>
              </a:rPr>
              <a:t>then combined until the final product is produced.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3A4C6-EDBB-1E1B-72D8-4887D8B0F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50" y="1835150"/>
            <a:ext cx="61595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264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Part V - Adder Tree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107589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The adder-tree multiplier synthesized 176 logic elements and 34 registers. The measured Fmax increased to 145.03 </a:t>
            </a:r>
            <a:r>
              <a:rPr sz="1600" b="0" dirty="0" err="1">
                <a:solidFill>
                  <a:srgbClr val="000000"/>
                </a:solidFill>
                <a:latin typeface="Aptos"/>
              </a:rPr>
              <a:t>MHz.</a:t>
            </a:r>
            <a:endParaRPr sz="1600" b="0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6" name="Picture 5" descr="image(20261006-1917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26" y="2015467"/>
            <a:ext cx="5422825" cy="2827065"/>
          </a:xfrm>
          <a:prstGeom prst="rect">
            <a:avLst/>
          </a:prstGeom>
        </p:spPr>
      </p:pic>
      <p:pic>
        <p:nvPicPr>
          <p:cNvPr id="7" name="Picture 6" descr="image(20261006-1917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850" y="1794047"/>
            <a:ext cx="6123124" cy="32699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1006-1949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36" y="450000"/>
            <a:ext cx="4819078" cy="2500000"/>
          </a:xfrm>
          <a:prstGeom prst="rect">
            <a:avLst/>
          </a:prstGeom>
        </p:spPr>
      </p:pic>
      <p:pic>
        <p:nvPicPr>
          <p:cNvPr id="3" name="Picture 2" descr="image(20261006-1917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88" y="450000"/>
            <a:ext cx="4681425" cy="2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3636" y="3282369"/>
            <a:ext cx="5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ptos"/>
              </a:rPr>
              <a:t>Part IV: 174 LEs, Fmax = 79.74 MHz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9288" y="3314539"/>
            <a:ext cx="5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ptos"/>
              </a:rPr>
              <a:t>Part V: 176 LEs, Fmax = 145.03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3636" y="5508000"/>
            <a:ext cx="100055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ptos"/>
              </a:rPr>
              <a:t>The adder tree used </a:t>
            </a:r>
            <a:r>
              <a:rPr lang="en-US" sz="1800" b="0" dirty="0">
                <a:solidFill>
                  <a:srgbClr val="000000"/>
                </a:solidFill>
                <a:latin typeface="Aptos"/>
              </a:rPr>
              <a:t>almost</a:t>
            </a:r>
            <a:r>
              <a:rPr sz="1800" b="0" dirty="0">
                <a:solidFill>
                  <a:srgbClr val="000000"/>
                </a:solidFill>
                <a:latin typeface="Aptos"/>
              </a:rPr>
              <a:t> the same amount of hardware but reduced the combinational addition, </a:t>
            </a:r>
            <a:endParaRPr lang="en-US" sz="1800" b="0" dirty="0">
              <a:solidFill>
                <a:srgbClr val="000000"/>
              </a:solidFill>
              <a:latin typeface="Aptos"/>
            </a:endParaRPr>
          </a:p>
          <a:p>
            <a:r>
              <a:rPr sz="1800" b="0" dirty="0">
                <a:solidFill>
                  <a:srgbClr val="000000"/>
                </a:solidFill>
                <a:latin typeface="Aptos"/>
              </a:rPr>
              <a:t>producing a much higher maximum frequency.</a:t>
            </a:r>
          </a:p>
        </p:txBody>
      </p:sp>
    </p:spTree>
    <p:extLst>
      <p:ext uri="{BB962C8B-B14F-4D97-AF65-F5344CB8AC3E}">
        <p14:creationId xmlns:p14="http://schemas.microsoft.com/office/powerpoint/2010/main" val="61152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7155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rgbClr val="000000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1080" y="2767280"/>
            <a:ext cx="10149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This lab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used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arithmetic circuits in Verilog,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starting off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with an accumulator and add/subtract accumulator, then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adding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to 4x4 and 8x8 multipliers. The DE10-Lite board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needed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adapting the switch and HEX display mapping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 from the provided lab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. The Part IV shift-and-add multiplier used 174 logic elements with an Fmax of 79.74 MHz, while the Part V adder-tree multiplier used 176 logic elements with an Fmax of 145.03 </a:t>
            </a:r>
            <a:r>
              <a:rPr sz="1600" b="0" dirty="0" err="1">
                <a:solidFill>
                  <a:srgbClr val="000000"/>
                </a:solidFill>
                <a:latin typeface="Aptos"/>
              </a:rPr>
              <a:t>MHz.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 The adder-tree design was faster </a:t>
            </a:r>
            <a:r>
              <a:rPr lang="en-US" sz="1600" b="0" dirty="0">
                <a:solidFill>
                  <a:srgbClr val="000000"/>
                </a:solidFill>
                <a:latin typeface="Aptos"/>
              </a:rPr>
              <a:t>and better 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because it reduced the addition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493</Words>
  <Application>Microsoft Macintosh PowerPoint</Application>
  <PresentationFormat>Widescreen</PresentationFormat>
  <Paragraphs>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Haval Khorsheed</cp:lastModifiedBy>
  <cp:revision>5</cp:revision>
  <dcterms:created xsi:type="dcterms:W3CDTF">2013-01-27T09:14:16Z</dcterms:created>
  <dcterms:modified xsi:type="dcterms:W3CDTF">2026-10-07T01:56:58Z</dcterms:modified>
  <cp:category/>
</cp:coreProperties>
</file>