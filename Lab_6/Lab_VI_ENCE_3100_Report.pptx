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2"/>
  </p:normalViewPr>
  <p:slideViewPr>
    <p:cSldViewPr snapToGrid="0" snapToObjects="1">
      <p:cViewPr varScale="1">
        <p:scale>
          <a:sx n="109" d="100"/>
          <a:sy n="109" d="100"/>
        </p:scale>
        <p:origin x="7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24500" y="3013501"/>
            <a:ext cx="11430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ptos"/>
              </a:defRPr>
            </a:pPr>
            <a:r>
              <a:rPr dirty="0"/>
              <a:t>LAB</a:t>
            </a:r>
            <a:br>
              <a:rPr dirty="0"/>
            </a:br>
            <a:r>
              <a:rPr dirty="0"/>
              <a:t>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312002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ptos"/>
              </a:defRPr>
            </a:pPr>
            <a:r>
              <a:rPr dirty="0"/>
              <a:t>Lab VI </a:t>
            </a:r>
            <a:r>
              <a:rPr lang="en-US" dirty="0"/>
              <a:t>-</a:t>
            </a:r>
            <a:r>
              <a:rPr dirty="0"/>
              <a:t> UART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103120"/>
            <a:ext cx="15544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  <a:latin typeface="Aptos"/>
              </a:defRPr>
            </a:pPr>
            <a:r>
              <a:rPr dirty="0"/>
              <a:t>PC / PuTTY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965960"/>
            <a:ext cx="1554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00000"/>
                </a:solidFill>
                <a:latin typeface="Aptos"/>
              </a:defRPr>
            </a:pPr>
            <a:r>
              <a:t>LC234X</a:t>
            </a:r>
            <a:br/>
            <a:r>
              <a:t>USB-UART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1234440"/>
            <a:ext cx="18288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async_receiver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143000"/>
            <a:ext cx="16459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FSM +</a:t>
            </a:r>
            <a:br/>
            <a:r>
              <a:t>5 s counter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1234440"/>
            <a:ext cx="1554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char2seg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4040" y="3063240"/>
            <a:ext cx="12801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HEX0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3063240"/>
            <a:ext cx="16459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LEDR[7:0]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5785" y="4069080"/>
            <a:ext cx="19636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rPr dirty="0" err="1"/>
              <a:t>async_transmitter</a:t>
            </a:r>
            <a:endParaRPr dirty="0"/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46888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94560" y="2159287"/>
            <a:ext cx="5943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U</a:t>
            </a:r>
            <a:r>
              <a:rPr dirty="0"/>
              <a:t>SB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297680" y="1600200"/>
            <a:ext cx="50292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18656544">
            <a:off x="4197190" y="1645919"/>
            <a:ext cx="548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ptos"/>
              </a:defRPr>
            </a:pPr>
            <a:r>
              <a:t>RXD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29400" y="160020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37960" y="118872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rPr dirty="0"/>
              <a:t>byte + ready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0" y="160020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04120" y="1920240"/>
            <a:ext cx="0" cy="1143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55279" y="2011680"/>
            <a:ext cx="0" cy="1051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629400" y="1783080"/>
            <a:ext cx="502920" cy="26517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9360" y="301752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echo byte</a:t>
            </a:r>
          </a:p>
        </p:txBody>
      </p:sp>
      <p:cxnSp>
        <p:nvCxnSpPr>
          <p:cNvPr id="22" name="Connector 21"/>
          <p:cNvCxnSpPr>
            <a:cxnSpLocks/>
            <a:stCxn id="10" idx="1"/>
          </p:cNvCxnSpPr>
          <p:nvPr/>
        </p:nvCxnSpPr>
        <p:spPr>
          <a:xfrm flipH="1" flipV="1">
            <a:off x="4297680" y="2697480"/>
            <a:ext cx="368105" cy="17145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23360" y="3681046"/>
            <a:ext cx="548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ptos"/>
              </a:defRPr>
            </a:pPr>
            <a:r>
              <a:t>TXD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06440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Aptos"/>
              </a:defRPr>
            </a:pPr>
            <a:r>
              <a:rPr dirty="0"/>
              <a:t>The DE10-Lite receives </a:t>
            </a:r>
            <a:r>
              <a:rPr lang="en-US" dirty="0"/>
              <a:t>the </a:t>
            </a:r>
            <a:r>
              <a:rPr dirty="0"/>
              <a:t>8</a:t>
            </a:r>
            <a:r>
              <a:rPr lang="en-US" dirty="0"/>
              <a:t> </a:t>
            </a:r>
            <a:r>
              <a:rPr dirty="0"/>
              <a:t>bit ASCII characters from PuTTY at </a:t>
            </a:r>
            <a:r>
              <a:rPr lang="en-US" dirty="0"/>
              <a:t>a </a:t>
            </a:r>
            <a:r>
              <a:rPr dirty="0"/>
              <a:t>115200 baud. The received byte is</a:t>
            </a:r>
            <a:r>
              <a:rPr lang="en-US" dirty="0"/>
              <a:t> then</a:t>
            </a:r>
            <a:r>
              <a:rPr dirty="0"/>
              <a:t> echoed back</a:t>
            </a:r>
            <a:r>
              <a:rPr lang="en-US" dirty="0"/>
              <a:t>wards to show</a:t>
            </a:r>
            <a:r>
              <a:rPr dirty="0"/>
              <a:t> on </a:t>
            </a:r>
            <a:r>
              <a:rPr lang="en-US" dirty="0"/>
              <a:t>the </a:t>
            </a:r>
            <a:r>
              <a:rPr dirty="0"/>
              <a:t>LEDR[7:0], HEX0, and held by the FSM until the five-second timer </a:t>
            </a:r>
            <a:r>
              <a:rPr lang="en-US" dirty="0"/>
              <a:t>ends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369556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ptos"/>
              </a:defRPr>
            </a:pPr>
            <a:r>
              <a:rPr lang="en-US" dirty="0" err="1"/>
              <a:t>A</a:t>
            </a:r>
            <a:r>
              <a:rPr dirty="0" err="1"/>
              <a:t>sync</a:t>
            </a:r>
            <a:r>
              <a:rPr lang="en-US" dirty="0" err="1"/>
              <a:t>_</a:t>
            </a:r>
            <a:r>
              <a:rPr dirty="0" err="1"/>
              <a:t>receiver</a:t>
            </a:r>
            <a:r>
              <a:rPr dirty="0"/>
              <a:t> Explanation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784252" y="2158543"/>
            <a:ext cx="74980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784252" y="3072943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rPr dirty="0"/>
              <a:t>Idle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34060" y="2798622"/>
            <a:ext cx="74980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534060" y="2158543"/>
            <a:ext cx="0" cy="64007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34060" y="3072943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Start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83868" y="2158543"/>
            <a:ext cx="74980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283868" y="2158543"/>
            <a:ext cx="0" cy="64007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83868" y="3072943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D0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3676" y="2798622"/>
            <a:ext cx="74980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33676" y="2158543"/>
            <a:ext cx="0" cy="64007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33676" y="3072943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D1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83484" y="2798622"/>
            <a:ext cx="74980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83484" y="2798622"/>
            <a:ext cx="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83484" y="3072943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D2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33291" y="2158543"/>
            <a:ext cx="749809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533291" y="2158543"/>
            <a:ext cx="0" cy="64007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33291" y="3072943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D3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83100" y="2798622"/>
            <a:ext cx="74980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283100" y="2158543"/>
            <a:ext cx="0" cy="64007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83100" y="3072943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D4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32907" y="2798622"/>
            <a:ext cx="74980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32907" y="2798622"/>
            <a:ext cx="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32907" y="3072943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D5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82715" y="2158543"/>
            <a:ext cx="749809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782715" y="2158543"/>
            <a:ext cx="0" cy="64007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82715" y="3072943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D6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32524" y="2798622"/>
            <a:ext cx="74980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32524" y="2158543"/>
            <a:ext cx="0" cy="64007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32524" y="3072943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D7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82332" y="2158543"/>
            <a:ext cx="74980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282332" y="2158543"/>
            <a:ext cx="0" cy="64007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282332" y="3072943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0" y="3886200"/>
            <a:ext cx="1554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ptos"/>
              </a:defRPr>
            </a:pPr>
            <a:r>
              <a:t>Synchronize</a:t>
            </a:r>
            <a:br/>
            <a:r>
              <a:t>RX input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3886200"/>
            <a:ext cx="1554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ptos"/>
              </a:defRPr>
            </a:pPr>
            <a:r>
              <a:rPr dirty="0"/>
              <a:t>Sample bits</a:t>
            </a:r>
            <a:br>
              <a:rPr dirty="0"/>
            </a:br>
            <a:r>
              <a:rPr dirty="0"/>
              <a:t>at 8</a:t>
            </a:r>
            <a:r>
              <a:rPr lang="en-US" dirty="0"/>
              <a:t>x</a:t>
            </a:r>
            <a:r>
              <a:rPr dirty="0"/>
              <a:t> baud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886200"/>
            <a:ext cx="16459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ptos"/>
              </a:defRPr>
            </a:pPr>
            <a:r>
              <a:t>Shift 8 bits</a:t>
            </a:r>
            <a:br/>
            <a:r>
              <a:t>into RxD_data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886200"/>
            <a:ext cx="17373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Aptos"/>
              </a:defRPr>
            </a:pPr>
            <a:r>
              <a:t>Check stop bit</a:t>
            </a:r>
            <a:br/>
            <a:r>
              <a:t>&amp; pulse ready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383280" y="4279392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486400" y="4279392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680960" y="4279392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5806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Aptos"/>
              </a:defRPr>
            </a:pPr>
            <a:r>
              <a:rPr dirty="0"/>
              <a:t>The receiver watches for the low start bit, samples the eight UART data bits first, and checks the high stop bit. When a byte is complete</a:t>
            </a:r>
            <a:r>
              <a:rPr lang="en-US" dirty="0"/>
              <a:t> then </a:t>
            </a:r>
            <a:r>
              <a:rPr dirty="0" err="1"/>
              <a:t>RxD_data</a:t>
            </a:r>
            <a:r>
              <a:rPr dirty="0"/>
              <a:t> </a:t>
            </a:r>
            <a:r>
              <a:rPr lang="en-US" dirty="0"/>
              <a:t>keeps</a:t>
            </a:r>
            <a:r>
              <a:rPr dirty="0"/>
              <a:t> the character and </a:t>
            </a:r>
            <a:r>
              <a:rPr dirty="0" err="1"/>
              <a:t>RxD_data_ready</a:t>
            </a:r>
            <a:r>
              <a:rPr dirty="0"/>
              <a:t> pulses for one clock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10048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ptos"/>
              </a:defRPr>
            </a:pPr>
            <a:r>
              <a:rPr lang="en-US" dirty="0" err="1"/>
              <a:t>A</a:t>
            </a:r>
            <a:r>
              <a:rPr dirty="0" err="1"/>
              <a:t>sync</a:t>
            </a:r>
            <a:r>
              <a:rPr lang="en-US" dirty="0" err="1"/>
              <a:t>_</a:t>
            </a:r>
            <a:r>
              <a:rPr dirty="0" err="1"/>
              <a:t>transmitter</a:t>
            </a:r>
            <a:r>
              <a:rPr dirty="0"/>
              <a:t> Explanation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240280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rPr dirty="0" err="1"/>
              <a:t>TxD_start</a:t>
            </a:r>
            <a:br>
              <a:rPr dirty="0"/>
            </a:br>
            <a:r>
              <a:rPr lang="en-US" dirty="0"/>
              <a:t>+</a:t>
            </a:r>
            <a:r>
              <a:rPr dirty="0"/>
              <a:t> </a:t>
            </a:r>
            <a:r>
              <a:rPr dirty="0" err="1"/>
              <a:t>TxD_data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3108960" y="2240280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rPr dirty="0"/>
              <a:t>Load 8</a:t>
            </a:r>
            <a:r>
              <a:rPr lang="en-US" dirty="0"/>
              <a:t> </a:t>
            </a:r>
            <a:r>
              <a:rPr dirty="0"/>
              <a:t>bit</a:t>
            </a:r>
            <a:br>
              <a:rPr dirty="0"/>
            </a:br>
            <a:r>
              <a:rPr dirty="0"/>
              <a:t>shift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2240280"/>
            <a:ext cx="14630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Baud tick</a:t>
            </a:r>
            <a:br/>
            <a:r>
              <a:t>115200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2240280"/>
            <a:ext cx="17373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Start + 8 data</a:t>
            </a:r>
            <a:br/>
            <a:r>
              <a:t>+ 2 stop bits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224028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TxD</a:t>
            </a:r>
            <a:br/>
            <a:r>
              <a:t>GPIO[33]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651760"/>
            <a:ext cx="640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" y="2651760"/>
            <a:ext cx="640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651760"/>
            <a:ext cx="64007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35440" y="2651760"/>
            <a:ext cx="640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44040" y="3867686"/>
            <a:ext cx="8503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Aptos"/>
              </a:defRPr>
            </a:pPr>
            <a:r>
              <a:rPr dirty="0"/>
              <a:t>UART frame:  start  </a:t>
            </a:r>
            <a:r>
              <a:rPr lang="en-US" dirty="0"/>
              <a:t>-&gt;</a:t>
            </a:r>
            <a:r>
              <a:rPr dirty="0"/>
              <a:t>  bit 0  </a:t>
            </a:r>
            <a:r>
              <a:rPr lang="en-US" dirty="0"/>
              <a:t>-&gt;</a:t>
            </a:r>
            <a:r>
              <a:rPr dirty="0"/>
              <a:t>  bit 1  </a:t>
            </a:r>
            <a:r>
              <a:rPr lang="en-US" dirty="0"/>
              <a:t>-&gt;</a:t>
            </a:r>
            <a:r>
              <a:rPr dirty="0"/>
              <a:t>  ...  </a:t>
            </a:r>
            <a:r>
              <a:rPr lang="en-US" dirty="0"/>
              <a:t>-&gt;</a:t>
            </a:r>
            <a:r>
              <a:rPr dirty="0"/>
              <a:t>  bit 7  </a:t>
            </a:r>
            <a:r>
              <a:rPr lang="en-US" dirty="0"/>
              <a:t>-&gt;</a:t>
            </a:r>
            <a:r>
              <a:rPr dirty="0"/>
              <a:t>  stop 1  </a:t>
            </a:r>
            <a:r>
              <a:rPr lang="en-US" dirty="0"/>
              <a:t>-&gt;</a:t>
            </a:r>
            <a:r>
              <a:rPr dirty="0"/>
              <a:t>  stop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06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Aptos"/>
              </a:defRPr>
            </a:pPr>
            <a:r>
              <a:rPr dirty="0"/>
              <a:t>When </a:t>
            </a:r>
            <a:r>
              <a:rPr dirty="0" err="1"/>
              <a:t>TxD_start</a:t>
            </a:r>
            <a:r>
              <a:rPr dirty="0"/>
              <a:t> is </a:t>
            </a:r>
            <a:r>
              <a:rPr lang="en-US" dirty="0"/>
              <a:t>started</a:t>
            </a:r>
            <a:r>
              <a:rPr dirty="0"/>
              <a:t>, the transmitter loads </a:t>
            </a:r>
            <a:r>
              <a:rPr lang="en-US" dirty="0"/>
              <a:t>the </a:t>
            </a:r>
            <a:r>
              <a:rPr dirty="0" err="1"/>
              <a:t>TxD_data</a:t>
            </a:r>
            <a:r>
              <a:rPr dirty="0"/>
              <a:t> and sends a UART frame. </a:t>
            </a:r>
            <a:r>
              <a:rPr lang="en-US" dirty="0"/>
              <a:t>The </a:t>
            </a:r>
            <a:r>
              <a:rPr dirty="0"/>
              <a:t>receiver ready pulse starts the transmitter, so each character is sent back to the PC as an echo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ptos"/>
              </a:defRPr>
            </a:pPr>
            <a:r>
              <a:t>char2seg Explanation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4630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8-bit ASCII</a:t>
            </a:r>
            <a:br/>
            <a:r>
              <a:t>character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234440"/>
            <a:ext cx="17373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c</a:t>
            </a:r>
            <a:r>
              <a:rPr dirty="0"/>
              <a:t>onverted</a:t>
            </a:r>
            <a:br>
              <a:rPr dirty="0"/>
            </a:br>
            <a:r>
              <a:rPr dirty="0"/>
              <a:t>to lowercase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1234440"/>
            <a:ext cx="19202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case table selects</a:t>
            </a:r>
            <a:br/>
            <a:r>
              <a:t>segment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234440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active-low</a:t>
            </a:r>
            <a:br/>
            <a:r>
              <a:t>HEX0[7:0]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1645920"/>
            <a:ext cx="640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480560" y="1645920"/>
            <a:ext cx="731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32320" y="1645920"/>
            <a:ext cx="731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mage(20261027-06425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2" y="2359247"/>
            <a:ext cx="3915504" cy="31453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543300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ptos"/>
              </a:defRPr>
            </a:pPr>
            <a:r>
              <a:t>Character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54330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ptos"/>
              </a:defRPr>
            </a:pPr>
            <a:r>
              <a:t>ASCII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5433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ptos"/>
              </a:defRPr>
            </a:pPr>
            <a:r>
              <a:t>HEX0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00500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00050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Aptos"/>
              </a:defRPr>
            </a:pPr>
            <a:r>
              <a:t>0x48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005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Aptos Mono"/>
              </a:defRPr>
            </a:pPr>
            <a:r>
              <a:t>10001001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Aptos"/>
              </a:defRPr>
            </a:pPr>
            <a:r>
              <a:rPr dirty="0"/>
              <a:t>char2seg is</a:t>
            </a:r>
            <a:r>
              <a:rPr lang="en-US" dirty="0"/>
              <a:t> a</a:t>
            </a:r>
            <a:r>
              <a:rPr dirty="0"/>
              <a:t> combinational logic that maps ASCII codes to the DE10-Lite active-low seven</a:t>
            </a:r>
            <a:r>
              <a:rPr lang="en-US" dirty="0"/>
              <a:t> </a:t>
            </a:r>
            <a:r>
              <a:rPr dirty="0"/>
              <a:t>segment display. </a:t>
            </a:r>
            <a:r>
              <a:rPr lang="en-US" dirty="0"/>
              <a:t>L</a:t>
            </a:r>
            <a:r>
              <a:rPr dirty="0"/>
              <a:t>etters are approximated because a seven-segment display cannot </a:t>
            </a:r>
            <a:r>
              <a:rPr lang="en-US" dirty="0"/>
              <a:t>make</a:t>
            </a:r>
            <a:r>
              <a:rPr dirty="0"/>
              <a:t> every letter exactly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ptos"/>
              </a:defRPr>
            </a:pPr>
            <a:r>
              <a:t>FSM Explanation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1828800"/>
            <a:ext cx="2011680" cy="1143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2011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Aptos"/>
              </a:defRPr>
            </a:pPr>
            <a:r>
              <a:t>IDLE</a:t>
            </a:r>
            <a:br/>
            <a:r>
              <a:t>Display blank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828800"/>
            <a:ext cx="2011680" cy="1143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2011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Aptos"/>
              </a:defRPr>
            </a:pPr>
            <a:r>
              <a:t>HOLD</a:t>
            </a:r>
            <a:br/>
            <a:r>
              <a:t>Display character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2255051"/>
            <a:ext cx="3931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46320" y="1528221"/>
            <a:ext cx="1828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 err="1"/>
              <a:t>rx_ready</a:t>
            </a:r>
            <a:r>
              <a:rPr dirty="0"/>
              <a:t> = 1</a:t>
            </a:r>
            <a:br>
              <a:rPr dirty="0"/>
            </a:br>
            <a:r>
              <a:rPr dirty="0"/>
              <a:t>capture </a:t>
            </a:r>
            <a:r>
              <a:rPr dirty="0" err="1"/>
              <a:t>rx_data</a:t>
            </a:r>
            <a:endParaRPr dirty="0"/>
          </a:p>
        </p:txBody>
      </p:sp>
      <p:cxnSp>
        <p:nvCxnSpPr>
          <p:cNvPr id="9" name="Connector 8"/>
          <p:cNvCxnSpPr/>
          <p:nvPr/>
        </p:nvCxnSpPr>
        <p:spPr>
          <a:xfrm flipH="1">
            <a:off x="3840480" y="2565009"/>
            <a:ext cx="3931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46320" y="2697480"/>
            <a:ext cx="1828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t>timeout = 1</a:t>
            </a:r>
            <a:br/>
            <a:r>
              <a:t>clear display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3931920"/>
            <a:ext cx="28346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Aptos"/>
              </a:defRPr>
            </a:pPr>
            <a:r>
              <a:t>New rx_ready while in HOLD:</a:t>
            </a:r>
            <a:br/>
            <a:r>
              <a:t>update character + restart timer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931920"/>
            <a:ext cx="25603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000000"/>
                </a:solidFill>
                <a:latin typeface="Aptos"/>
              </a:defRPr>
            </a:pPr>
            <a:r>
              <a:t>No rx_ready in IDLE:</a:t>
            </a:r>
            <a:br/>
            <a:r>
              <a:t>remain blank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06440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Aptos"/>
              </a:defRPr>
            </a:pPr>
            <a:r>
              <a:rPr dirty="0"/>
              <a:t>The FSM has two states. IDLE waits for a character</a:t>
            </a:r>
            <a:r>
              <a:rPr lang="en-US" dirty="0"/>
              <a:t> while </a:t>
            </a:r>
            <a:r>
              <a:rPr dirty="0"/>
              <a:t>HOLD keeps that character on the LEDs and HEX0. A new character replaces the old one and restarts the timer; when timeout </a:t>
            </a:r>
            <a:r>
              <a:rPr lang="en-US" dirty="0"/>
              <a:t>is triggered</a:t>
            </a:r>
            <a:r>
              <a:rPr dirty="0"/>
              <a:t>, the display is cleared and the FSM returns </a:t>
            </a:r>
            <a:r>
              <a:rPr lang="en-US" dirty="0"/>
              <a:t>back to</a:t>
            </a:r>
            <a:r>
              <a:rPr dirty="0"/>
              <a:t> IDLE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ptos"/>
              </a:defRPr>
            </a:pPr>
            <a:r>
              <a:t>5-Second Counter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ptos"/>
              </a:defRPr>
            </a:pPr>
            <a:r>
              <a:t>50,000,000 clocks / second × 5 seconds = 250,000,000 clock cycles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14600"/>
            <a:ext cx="18288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50 MHz</a:t>
            </a:r>
            <a:br/>
            <a:r>
              <a:t>MAX10_CLK1_50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760" y="2514600"/>
            <a:ext cx="2103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rPr dirty="0"/>
              <a:t>28-bit counter</a:t>
            </a:r>
            <a:br>
              <a:rPr dirty="0"/>
            </a:br>
            <a:r>
              <a:rPr dirty="0"/>
              <a:t>0 </a:t>
            </a:r>
            <a:r>
              <a:rPr lang="en-US" dirty="0"/>
              <a:t>-&gt;</a:t>
            </a:r>
            <a:r>
              <a:rPr dirty="0"/>
              <a:t> 249,999,999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60" y="2514600"/>
            <a:ext cx="19202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done = 1</a:t>
            </a:r>
            <a:br/>
            <a:r>
              <a:t>at terminal count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0" y="2514600"/>
            <a:ext cx="1463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FSM clears</a:t>
            </a:r>
            <a:br/>
            <a:r>
              <a:t>display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971800"/>
            <a:ext cx="10515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97880" y="2971800"/>
            <a:ext cx="10972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15400" y="2971800"/>
            <a:ext cx="8686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4006407"/>
            <a:ext cx="850392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Aptos"/>
              </a:defRPr>
            </a:pPr>
            <a:r>
              <a:rPr dirty="0"/>
              <a:t>2²⁷ = 134,217,728  </a:t>
            </a:r>
            <a:r>
              <a:rPr lang="en-US" dirty="0"/>
              <a:t>&lt;</a:t>
            </a:r>
            <a:r>
              <a:rPr dirty="0"/>
              <a:t>  250,000,000  </a:t>
            </a:r>
            <a:r>
              <a:rPr lang="en-US" dirty="0"/>
              <a:t>&lt;</a:t>
            </a:r>
            <a:r>
              <a:rPr dirty="0"/>
              <a:t>  2²⁸ = 268,435,456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494163"/>
            <a:ext cx="5486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So,</a:t>
            </a:r>
            <a:r>
              <a:rPr dirty="0"/>
              <a:t> a 28</a:t>
            </a:r>
            <a:r>
              <a:rPr lang="en-US" dirty="0"/>
              <a:t> </a:t>
            </a:r>
            <a:r>
              <a:rPr dirty="0"/>
              <a:t>bit register is </a:t>
            </a:r>
            <a:r>
              <a:rPr lang="en-US" dirty="0"/>
              <a:t>needed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06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Aptos"/>
              </a:defRPr>
            </a:pPr>
            <a:r>
              <a:rPr dirty="0"/>
              <a:t>The timer uses the original 50 MHz board clock rather than creating a new clock</a:t>
            </a:r>
            <a:r>
              <a:rPr lang="en-US" dirty="0"/>
              <a:t> so </a:t>
            </a:r>
            <a:r>
              <a:rPr dirty="0"/>
              <a:t>clear resets the count when the FSM is idle or when a new UART character </a:t>
            </a:r>
            <a:r>
              <a:rPr lang="en-US" dirty="0"/>
              <a:t>is pressed</a:t>
            </a:r>
            <a:r>
              <a:rPr dirty="0"/>
              <a:t>, so every new character receives a fresh five-second display interval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ptos"/>
              </a:defRPr>
            </a:pPr>
            <a:r>
              <a:t>UART Hardware Setup and PuTTY</a:t>
            </a:r>
          </a:p>
        </p:txBody>
      </p:sp>
      <p:pic>
        <p:nvPicPr>
          <p:cNvPr id="3" name="Picture 2" descr="image(20261027-06412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90487"/>
            <a:ext cx="5486400" cy="2819825"/>
          </a:xfrm>
          <a:prstGeom prst="rect">
            <a:avLst/>
          </a:prstGeom>
        </p:spPr>
      </p:pic>
      <p:pic>
        <p:nvPicPr>
          <p:cNvPr id="4" name="Picture 3" descr="image(20261027-06425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47365"/>
            <a:ext cx="5303520" cy="42603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57800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ptos"/>
              </a:defRPr>
            </a:pPr>
            <a:r>
              <a:t>PuTTY: Serial, COM14, 115200 baud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25780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ptos"/>
              </a:defRPr>
            </a:pPr>
            <a:r>
              <a:t>LC234X UART connected to DE10-Lite GPIO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06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Aptos"/>
              </a:defRPr>
            </a:pPr>
            <a:r>
              <a:rPr dirty="0"/>
              <a:t>The PC communicates through the LC234X USB-UART adapter. FPGA RX is GPIO[35] and FPGA TX is GPIO[33]. PuTTY is configured for the adapter COM port</a:t>
            </a:r>
            <a:r>
              <a:rPr lang="en-US" dirty="0"/>
              <a:t>14</a:t>
            </a:r>
            <a:r>
              <a:rPr dirty="0"/>
              <a:t> at 115200 baud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ptos"/>
              </a:defRPr>
            </a:pPr>
            <a:r>
              <a:t>Character Receive and Display Verification</a:t>
            </a:r>
          </a:p>
        </p:txBody>
      </p:sp>
      <p:pic>
        <p:nvPicPr>
          <p:cNvPr id="3" name="Picture 2" descr="image(20261027-06425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62734"/>
            <a:ext cx="3657600" cy="2938171"/>
          </a:xfrm>
          <a:prstGeom prst="rect">
            <a:avLst/>
          </a:prstGeom>
        </p:spPr>
      </p:pic>
      <p:pic>
        <p:nvPicPr>
          <p:cNvPr id="4" name="Picture 3" descr="IMG_300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935" y="731520"/>
            <a:ext cx="3326129" cy="4434840"/>
          </a:xfrm>
          <a:prstGeom prst="rect">
            <a:avLst/>
          </a:prstGeom>
        </p:spPr>
      </p:pic>
      <p:pic>
        <p:nvPicPr>
          <p:cNvPr id="5" name="Picture 4" descr="IMG_300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269" y="728003"/>
            <a:ext cx="3326129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0" y="516636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516636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0694" y="5162843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Aptos"/>
              </a:defRPr>
            </a:pPr>
            <a:r>
              <a:rPr dirty="0"/>
              <a:t>Multiple characters were sent from PuTTY and correctly </a:t>
            </a:r>
            <a:r>
              <a:rPr lang="en-US" dirty="0"/>
              <a:t>showed</a:t>
            </a:r>
            <a:r>
              <a:rPr dirty="0"/>
              <a:t> on </a:t>
            </a:r>
            <a:r>
              <a:rPr lang="en-US" dirty="0"/>
              <a:t>the </a:t>
            </a:r>
            <a:r>
              <a:rPr dirty="0"/>
              <a:t>HEX0. LEDR[7:0] also </a:t>
            </a:r>
            <a:r>
              <a:rPr lang="en-US" dirty="0"/>
              <a:t>showed</a:t>
            </a:r>
            <a:r>
              <a:rPr dirty="0"/>
              <a:t> the ASCII byte in binary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ptos"/>
              </a:defRPr>
            </a:pPr>
            <a:r>
              <a:t>FSM and 5-Second Timeout Verification</a:t>
            </a:r>
          </a:p>
        </p:txBody>
      </p:sp>
      <p:pic>
        <p:nvPicPr>
          <p:cNvPr id="3" name="Picture 2" descr="fram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630" y="685800"/>
            <a:ext cx="2520930" cy="4480560"/>
          </a:xfrm>
          <a:prstGeom prst="rect">
            <a:avLst/>
          </a:prstGeom>
        </p:spPr>
      </p:pic>
      <p:pic>
        <p:nvPicPr>
          <p:cNvPr id="4" name="Picture 3" descr="frame_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495" y="685800"/>
            <a:ext cx="252093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5166360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Character displayed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16636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Aptos"/>
              </a:defRPr>
            </a:pPr>
            <a:r>
              <a:t>Display cleared automatically</a:t>
            </a:r>
          </a:p>
        </p:txBody>
      </p:sp>
      <p:cxnSp>
        <p:nvCxnSpPr>
          <p:cNvPr id="7" name="Connector 6"/>
          <p:cNvCxnSpPr>
            <a:cxnSpLocks/>
            <a:stCxn id="3" idx="3"/>
            <a:endCxn id="4" idx="1"/>
          </p:cNvCxnSpPr>
          <p:nvPr/>
        </p:nvCxnSpPr>
        <p:spPr>
          <a:xfrm>
            <a:off x="4480560" y="2926080"/>
            <a:ext cx="308293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32120" y="25603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  <a:latin typeface="Aptos"/>
              </a:defRPr>
            </a:pPr>
            <a:r>
              <a:t>timeout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Aptos"/>
              </a:defRPr>
            </a:pPr>
            <a:r>
              <a:rPr dirty="0"/>
              <a:t>The working</a:t>
            </a:r>
            <a:r>
              <a:rPr lang="en-US" dirty="0"/>
              <a:t> </a:t>
            </a:r>
            <a:r>
              <a:rPr dirty="0"/>
              <a:t>system </a:t>
            </a:r>
            <a:r>
              <a:rPr lang="en-US" dirty="0"/>
              <a:t>two clips</a:t>
            </a:r>
            <a:r>
              <a:rPr dirty="0"/>
              <a:t> show a received character being held on HEX0 and then automatically clearing after the timer interval. This verifies the HOLD-to-IDLE FSM transition and the five-second counter behavior on the DE10-Lite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" y="2767280"/>
            <a:ext cx="1024128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Aptos"/>
              </a:defRPr>
            </a:pPr>
            <a:r>
              <a:rPr dirty="0"/>
              <a:t>This lab </a:t>
            </a:r>
            <a:r>
              <a:rPr lang="en-US" dirty="0"/>
              <a:t>used</a:t>
            </a:r>
            <a:r>
              <a:rPr dirty="0"/>
              <a:t> UART on the DE10-Lite using Verilog. The </a:t>
            </a:r>
            <a:r>
              <a:rPr dirty="0" err="1"/>
              <a:t>async_receiver</a:t>
            </a:r>
            <a:r>
              <a:rPr dirty="0"/>
              <a:t> converted </a:t>
            </a:r>
            <a:r>
              <a:rPr lang="en-US" dirty="0"/>
              <a:t>the</a:t>
            </a:r>
            <a:r>
              <a:rPr dirty="0"/>
              <a:t> data from PuTTY into an 8-bit ASCII byte, while the </a:t>
            </a:r>
            <a:r>
              <a:rPr dirty="0" err="1"/>
              <a:t>async_transmitter</a:t>
            </a:r>
            <a:r>
              <a:rPr dirty="0"/>
              <a:t> return</a:t>
            </a:r>
            <a:r>
              <a:rPr lang="en-US" dirty="0"/>
              <a:t>ed the data</a:t>
            </a:r>
            <a:r>
              <a:rPr dirty="0"/>
              <a:t>. </a:t>
            </a:r>
            <a:r>
              <a:rPr lang="en-US" dirty="0"/>
              <a:t>C</a:t>
            </a:r>
            <a:r>
              <a:rPr dirty="0"/>
              <a:t>har2seg converted the received character for HEX0 and LEDR[7:0] showed the byte in binary. A two-state FSM and a 28-bit counter were </a:t>
            </a:r>
            <a:r>
              <a:rPr lang="en-US" dirty="0"/>
              <a:t>made</a:t>
            </a:r>
            <a:r>
              <a:rPr dirty="0"/>
              <a:t> so each received character </a:t>
            </a:r>
            <a:r>
              <a:rPr lang="en-US" dirty="0"/>
              <a:t>stayed on </a:t>
            </a:r>
            <a:r>
              <a:rPr dirty="0"/>
              <a:t>for </a:t>
            </a:r>
            <a:r>
              <a:rPr lang="en-US" dirty="0"/>
              <a:t>about</a:t>
            </a:r>
            <a:r>
              <a:rPr dirty="0"/>
              <a:t> five seconds before the display cleared. Hardware testing showed multiple characters on HEX0 and confirmed that the timed display turned off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763</Words>
  <Application>Microsoft Macintosh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Haval Khorsheed</cp:lastModifiedBy>
  <cp:revision>2</cp:revision>
  <dcterms:created xsi:type="dcterms:W3CDTF">2013-01-27T09:14:16Z</dcterms:created>
  <dcterms:modified xsi:type="dcterms:W3CDTF">2026-10-27T07:41:47Z</dcterms:modified>
  <cp:category/>
</cp:coreProperties>
</file>